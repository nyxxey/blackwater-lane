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58A3E3E-39EF-4A8E-A6A3-656E235F0004}">
          <p14:sldIdLst>
            <p14:sldId id="256"/>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180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policeofficer.org/crime-scene-investigator-salary/"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exels.com/photo/car-police-usa-683537/"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commons.wikimedia.org/wiki/File:Thumbs_up_icon.png"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khwiki.com/Gallery:Phanto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pxhere.com/en/photo/1020606" TargetMode="External"/><Relationship Id="rId5" Type="http://schemas.openxmlformats.org/officeDocument/2006/relationships/image" Target="../media/image9.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flickr.com/photos/muchadoaboutnothing/44087210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pixabay.com/en/trophy-win-prize-transparent-1414791/" TargetMode="External"/><Relationship Id="rId5" Type="http://schemas.openxmlformats.org/officeDocument/2006/relationships/image" Target="../media/image1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5"/>
          <a:stretch>
            <a:fillRect/>
          </a:stretch>
        </p:blipFill>
        <p:spPr>
          <a:xfrm>
            <a:off x="0" y="2560320"/>
            <a:ext cx="9144000" cy="274320"/>
          </a:xfrm>
          <a:prstGeom prst="rect">
            <a:avLst/>
          </a:prstGeom>
        </p:spPr>
      </p:pic>
      <p:sp>
        <p:nvSpPr>
          <p:cNvPr id="4" name="Shape 0"/>
          <p:cNvSpPr/>
          <p:nvPr/>
        </p:nvSpPr>
        <p:spPr>
          <a:xfrm>
            <a:off x="1097280" y="731520"/>
            <a:ext cx="6949440" cy="3657600"/>
          </a:xfrm>
          <a:prstGeom prst="rect">
            <a:avLst/>
          </a:prstGeom>
          <a:solidFill>
            <a:srgbClr val="000000">
              <a:alpha val="40000"/>
            </a:srgbClr>
          </a:solidFill>
          <a:ln w="19050">
            <a:solidFill>
              <a:srgbClr val="C8A84E"/>
            </a:solidFill>
            <a:prstDash val="solid"/>
          </a:ln>
        </p:spPr>
        <p:txBody>
          <a:bodyPr/>
          <a:lstStyle/>
          <a:p>
            <a:endParaRPr lang="en-US"/>
          </a:p>
        </p:txBody>
      </p:sp>
      <p:sp>
        <p:nvSpPr>
          <p:cNvPr id="5" name="Text 1"/>
          <p:cNvSpPr/>
          <p:nvPr/>
        </p:nvSpPr>
        <p:spPr>
          <a:xfrm>
            <a:off x="1371600" y="1097280"/>
            <a:ext cx="6400800" cy="822960"/>
          </a:xfrm>
          <a:prstGeom prst="rect">
            <a:avLst/>
          </a:prstGeom>
          <a:noFill/>
          <a:ln/>
        </p:spPr>
        <p:txBody>
          <a:bodyPr wrap="square" lIns="0" tIns="0" rIns="0" bIns="0" rtlCol="0" anchor="ctr"/>
          <a:lstStyle/>
          <a:p>
            <a:pPr marL="0" indent="0" algn="ctr">
              <a:buNone/>
            </a:pPr>
            <a:r>
              <a:rPr lang="en-US" sz="4400" b="1" dirty="0">
                <a:solidFill>
                  <a:srgbClr val="C8A84E"/>
                </a:solidFill>
                <a:latin typeface="Courier New" pitchFamily="34" charset="0"/>
                <a:ea typeface="Courier New" pitchFamily="34" charset="-122"/>
                <a:cs typeface="Courier New" pitchFamily="34" charset="-120"/>
              </a:rPr>
              <a:t>ENTRY 01</a:t>
            </a:r>
            <a:endParaRPr lang="en-US" sz="4400" dirty="0"/>
          </a:p>
        </p:txBody>
      </p:sp>
      <p:sp>
        <p:nvSpPr>
          <p:cNvPr id="6" name="Shape 2"/>
          <p:cNvSpPr/>
          <p:nvPr/>
        </p:nvSpPr>
        <p:spPr>
          <a:xfrm>
            <a:off x="3200400" y="1920240"/>
            <a:ext cx="2743200" cy="0"/>
          </a:xfrm>
          <a:prstGeom prst="line">
            <a:avLst/>
          </a:prstGeom>
          <a:noFill/>
          <a:ln w="9525">
            <a:solidFill>
              <a:srgbClr val="8A7335"/>
            </a:solidFill>
            <a:prstDash val="solid"/>
          </a:ln>
        </p:spPr>
        <p:txBody>
          <a:bodyPr/>
          <a:lstStyle/>
          <a:p>
            <a:endParaRPr lang="en-US"/>
          </a:p>
        </p:txBody>
      </p:sp>
      <p:sp>
        <p:nvSpPr>
          <p:cNvPr id="7" name="Text 3"/>
          <p:cNvSpPr/>
          <p:nvPr/>
        </p:nvSpPr>
        <p:spPr>
          <a:xfrm>
            <a:off x="1371600" y="2103120"/>
            <a:ext cx="6400800" cy="548640"/>
          </a:xfrm>
          <a:prstGeom prst="rect">
            <a:avLst/>
          </a:prstGeom>
          <a:noFill/>
          <a:ln/>
        </p:spPr>
        <p:txBody>
          <a:bodyPr wrap="square" lIns="0" tIns="0" rIns="0" bIns="0" rtlCol="0" anchor="ctr"/>
          <a:lstStyle/>
          <a:p>
            <a:pPr marL="0" indent="0" algn="ctr">
              <a:buNone/>
            </a:pPr>
            <a:r>
              <a:rPr lang="en-US" sz="1800" i="1" dirty="0">
                <a:solidFill>
                  <a:srgbClr val="E8DFC4"/>
                </a:solidFill>
                <a:latin typeface="Courier New" pitchFamily="34" charset="0"/>
                <a:ea typeface="Courier New" pitchFamily="34" charset="-122"/>
                <a:cs typeface="Courier New" pitchFamily="34" charset="-120"/>
              </a:rPr>
              <a:t>"Orientation: Welcome to the Precinct"</a:t>
            </a:r>
            <a:endParaRPr lang="en-US" sz="1800" dirty="0"/>
          </a:p>
        </p:txBody>
      </p:sp>
      <p:sp>
        <p:nvSpPr>
          <p:cNvPr id="8" name="Text 4"/>
          <p:cNvSpPr/>
          <p:nvPr/>
        </p:nvSpPr>
        <p:spPr>
          <a:xfrm>
            <a:off x="1371600" y="2834640"/>
            <a:ext cx="6400800" cy="365760"/>
          </a:xfrm>
          <a:prstGeom prst="rect">
            <a:avLst/>
          </a:prstGeom>
          <a:noFill/>
          <a:ln/>
        </p:spPr>
        <p:txBody>
          <a:bodyPr wrap="square" lIns="0" tIns="0" rIns="0" bIns="0" rtlCol="0" anchor="ctr"/>
          <a:lstStyle/>
          <a:p>
            <a:pPr marL="0" indent="0" algn="ctr">
              <a:buNone/>
            </a:pPr>
            <a:r>
              <a:rPr lang="en-US" sz="1200" kern="0" spc="600" dirty="0">
                <a:solidFill>
                  <a:srgbClr val="8A7335"/>
                </a:solidFill>
                <a:latin typeface="Courier New" pitchFamily="34" charset="0"/>
                <a:ea typeface="Courier New" pitchFamily="34" charset="-122"/>
                <a:cs typeface="Courier New" pitchFamily="34" charset="-120"/>
              </a:rPr>
              <a:t>TRAINING VIDEO</a:t>
            </a:r>
            <a:endParaRPr lang="en-US" sz="1200" dirty="0"/>
          </a:p>
        </p:txBody>
      </p:sp>
      <p:sp>
        <p:nvSpPr>
          <p:cNvPr id="9" name="Text 5"/>
          <p:cNvSpPr/>
          <p:nvPr/>
        </p:nvSpPr>
        <p:spPr>
          <a:xfrm>
            <a:off x="1371600" y="3291840"/>
            <a:ext cx="6400800" cy="365760"/>
          </a:xfrm>
          <a:prstGeom prst="rect">
            <a:avLst/>
          </a:prstGeom>
          <a:noFill/>
          <a:ln/>
        </p:spPr>
        <p:txBody>
          <a:bodyPr wrap="square" lIns="0" tIns="0" rIns="0" bIns="0" rtlCol="0" anchor="ctr"/>
          <a:lstStyle/>
          <a:p>
            <a:pPr marL="0" indent="0" algn="ctr">
              <a:buNone/>
            </a:pPr>
            <a:r>
              <a:rPr lang="en-US" sz="1000" kern="0" spc="300" dirty="0">
                <a:solidFill>
                  <a:srgbClr val="4A4A5A"/>
                </a:solidFill>
                <a:latin typeface="Courier New" pitchFamily="34" charset="0"/>
                <a:ea typeface="Courier New" pitchFamily="34" charset="-122"/>
                <a:cs typeface="Courier New" pitchFamily="34" charset="-120"/>
              </a:rPr>
              <a:t>DATE OF PRODUCTION: UNKNOWN</a:t>
            </a:r>
            <a:endParaRPr lang="en-US" sz="1000" dirty="0"/>
          </a:p>
        </p:txBody>
      </p:sp>
      <p:sp>
        <p:nvSpPr>
          <p:cNvPr id="10" name="Shape 6"/>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11" name="Text 7"/>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sp>
        <p:nvSpPr>
          <p:cNvPr id="3" name="Shape 0"/>
          <p:cNvSpPr/>
          <p:nvPr/>
        </p:nvSpPr>
        <p:spPr>
          <a:xfrm>
            <a:off x="365760" y="274320"/>
            <a:ext cx="137160" cy="137160"/>
          </a:xfrm>
          <a:prstGeom prst="ellipse">
            <a:avLst/>
          </a:prstGeom>
          <a:solidFill>
            <a:srgbClr val="CC2222"/>
          </a:solidFill>
          <a:ln/>
        </p:spPr>
        <p:txBody>
          <a:bodyPr/>
          <a:lstStyle/>
          <a:p>
            <a:endParaRPr lang="en-US"/>
          </a:p>
        </p:txBody>
      </p:sp>
      <p:sp>
        <p:nvSpPr>
          <p:cNvPr id="4"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5"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00:00:14</a:t>
            </a:r>
            <a:endParaRPr lang="en-US" sz="1000" dirty="0"/>
          </a:p>
        </p:txBody>
      </p:sp>
      <p:sp>
        <p:nvSpPr>
          <p:cNvPr id="6" name="Shape 3"/>
          <p:cNvSpPr/>
          <p:nvPr/>
        </p:nvSpPr>
        <p:spPr>
          <a:xfrm>
            <a:off x="0" y="548640"/>
            <a:ext cx="9144000" cy="457200"/>
          </a:xfrm>
          <a:prstGeom prst="rect">
            <a:avLst/>
          </a:prstGeom>
          <a:solidFill>
            <a:srgbClr val="1A3A6B">
              <a:alpha val="60000"/>
            </a:srgbClr>
          </a:solidFill>
          <a:ln/>
        </p:spPr>
        <p:txBody>
          <a:bodyPr/>
          <a:lstStyle/>
          <a:p>
            <a:endParaRPr lang="en-US"/>
          </a:p>
        </p:txBody>
      </p:sp>
      <p:sp>
        <p:nvSpPr>
          <p:cNvPr id="7" name="Text 4"/>
          <p:cNvSpPr/>
          <p:nvPr/>
        </p:nvSpPr>
        <p:spPr>
          <a:xfrm>
            <a:off x="457200" y="566928"/>
            <a:ext cx="8229600" cy="411480"/>
          </a:xfrm>
          <a:prstGeom prst="rect">
            <a:avLst/>
          </a:prstGeom>
          <a:noFill/>
          <a:ln/>
        </p:spPr>
        <p:txBody>
          <a:bodyPr wrap="square" lIns="0" tIns="0" rIns="0" bIns="0" rtlCol="0" anchor="ctr"/>
          <a:lstStyle/>
          <a:p>
            <a:pPr marL="0" indent="0">
              <a:buNone/>
            </a:pPr>
            <a:r>
              <a:rPr lang="en-US" sz="1400" b="1" dirty="0">
                <a:solidFill>
                  <a:srgbClr val="C8A84E"/>
                </a:solidFill>
                <a:latin typeface="Courier New" pitchFamily="34" charset="0"/>
                <a:cs typeface="Courier New" pitchFamily="34" charset="-120"/>
              </a:rPr>
              <a:t>Getting Started</a:t>
            </a:r>
            <a:endParaRPr lang="en-US" sz="1400" dirty="0"/>
          </a:p>
        </p:txBody>
      </p:sp>
      <p:sp>
        <p:nvSpPr>
          <p:cNvPr id="8" name="Shape 5"/>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9" name="Text 6"/>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pic>
        <p:nvPicPr>
          <p:cNvPr id="10" name="Picture 9">
            <a:extLst>
              <a:ext uri="{FF2B5EF4-FFF2-40B4-BE49-F238E27FC236}">
                <a16:creationId xmlns:a16="http://schemas.microsoft.com/office/drawing/2014/main" id="{562BCE27-CA92-F09F-811D-F00A2147279D}"/>
              </a:ext>
            </a:extLst>
          </p:cNvPr>
          <p:cNvPicPr>
            <a:picLocks noChangeAspect="1"/>
          </p:cNvPicPr>
          <p:nvPr/>
        </p:nvPicPr>
        <p:blipFill>
          <a:blip r:embed="rId5"/>
          <a:stretch>
            <a:fillRect/>
          </a:stretch>
        </p:blipFill>
        <p:spPr>
          <a:xfrm>
            <a:off x="1078388" y="987233"/>
            <a:ext cx="6968332" cy="3676207"/>
          </a:xfrm>
          <a:prstGeom prst="rect">
            <a:avLst/>
          </a:prstGeom>
        </p:spPr>
      </p:pic>
      <p:sp>
        <p:nvSpPr>
          <p:cNvPr id="11" name="TextBox 10">
            <a:extLst>
              <a:ext uri="{FF2B5EF4-FFF2-40B4-BE49-F238E27FC236}">
                <a16:creationId xmlns:a16="http://schemas.microsoft.com/office/drawing/2014/main" id="{F885CEA6-BC5E-F32F-340F-DA43109B9622}"/>
              </a:ext>
            </a:extLst>
          </p:cNvPr>
          <p:cNvSpPr txBox="1"/>
          <p:nvPr/>
        </p:nvSpPr>
        <p:spPr>
          <a:xfrm>
            <a:off x="5073227" y="1185148"/>
            <a:ext cx="2898986" cy="2308324"/>
          </a:xfrm>
          <a:prstGeom prst="rect">
            <a:avLst/>
          </a:prstGeom>
          <a:noFill/>
        </p:spPr>
        <p:txBody>
          <a:bodyPr wrap="square" rtlCol="0">
            <a:spAutoFit/>
          </a:bodyPr>
          <a:lstStyle/>
          <a:p>
            <a:r>
              <a:rPr lang="en-US" dirty="0">
                <a:solidFill>
                  <a:schemeClr val="accent4">
                    <a:lumMod val="75000"/>
                  </a:schemeClr>
                </a:solidFill>
              </a:rPr>
              <a:t>Firstly, welcome to the team we are so happy for you to join us. First things first you should have your ID card and badge ready. Your ID card will let you into all the buildings we have on campus. </a:t>
            </a:r>
          </a:p>
        </p:txBody>
      </p:sp>
      <p:pic>
        <p:nvPicPr>
          <p:cNvPr id="13" name="Picture 12">
            <a:extLst>
              <a:ext uri="{FF2B5EF4-FFF2-40B4-BE49-F238E27FC236}">
                <a16:creationId xmlns:a16="http://schemas.microsoft.com/office/drawing/2014/main" id="{A1C1997A-C885-170C-DFB0-1415F2777750}"/>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1143000" y="1046036"/>
            <a:ext cx="3930227" cy="32482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5"/>
          <a:stretch>
            <a:fillRect/>
          </a:stretch>
        </p:blipFill>
        <p:spPr>
          <a:xfrm>
            <a:off x="0" y="3566160"/>
            <a:ext cx="9144000" cy="274320"/>
          </a:xfrm>
          <a:prstGeom prst="rect">
            <a:avLst/>
          </a:prstGeom>
        </p:spPr>
      </p:pic>
      <p:sp>
        <p:nvSpPr>
          <p:cNvPr id="4" name="Shape 0"/>
          <p:cNvSpPr/>
          <p:nvPr/>
        </p:nvSpPr>
        <p:spPr>
          <a:xfrm>
            <a:off x="365760" y="274320"/>
            <a:ext cx="137160" cy="137160"/>
          </a:xfrm>
          <a:prstGeom prst="ellipse">
            <a:avLst/>
          </a:prstGeom>
          <a:solidFill>
            <a:srgbClr val="CC2222"/>
          </a:solidFill>
          <a:ln/>
        </p:spPr>
        <p:txBody>
          <a:bodyPr/>
          <a:lstStyle/>
          <a:p>
            <a:endParaRPr lang="en-US"/>
          </a:p>
        </p:txBody>
      </p:sp>
      <p:sp>
        <p:nvSpPr>
          <p:cNvPr id="5"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6"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00:01:32</a:t>
            </a:r>
            <a:endParaRPr lang="en-US" sz="1000" dirty="0"/>
          </a:p>
        </p:txBody>
      </p:sp>
      <p:sp>
        <p:nvSpPr>
          <p:cNvPr id="7" name="Shape 3"/>
          <p:cNvSpPr/>
          <p:nvPr/>
        </p:nvSpPr>
        <p:spPr>
          <a:xfrm>
            <a:off x="0" y="548640"/>
            <a:ext cx="9144000" cy="457200"/>
          </a:xfrm>
          <a:prstGeom prst="rect">
            <a:avLst/>
          </a:prstGeom>
          <a:solidFill>
            <a:srgbClr val="1A3A6B">
              <a:alpha val="60000"/>
            </a:srgbClr>
          </a:solidFill>
          <a:ln/>
        </p:spPr>
        <p:txBody>
          <a:bodyPr/>
          <a:lstStyle/>
          <a:p>
            <a:endParaRPr lang="en-US"/>
          </a:p>
        </p:txBody>
      </p:sp>
      <p:sp>
        <p:nvSpPr>
          <p:cNvPr id="8" name="Text 4"/>
          <p:cNvSpPr/>
          <p:nvPr/>
        </p:nvSpPr>
        <p:spPr>
          <a:xfrm>
            <a:off x="457200" y="566928"/>
            <a:ext cx="8229600" cy="411480"/>
          </a:xfrm>
          <a:prstGeom prst="rect">
            <a:avLst/>
          </a:prstGeom>
          <a:noFill/>
          <a:ln/>
        </p:spPr>
        <p:txBody>
          <a:bodyPr wrap="square" lIns="0" tIns="0" rIns="0" bIns="0" rtlCol="0" anchor="ctr"/>
          <a:lstStyle/>
          <a:p>
            <a:pPr marL="0" indent="0">
              <a:buNone/>
            </a:pPr>
            <a:r>
              <a:rPr lang="en-US" sz="1400" b="1" dirty="0">
                <a:solidFill>
                  <a:srgbClr val="C8A84E"/>
                </a:solidFill>
                <a:latin typeface="Courier New" pitchFamily="34" charset="0"/>
                <a:ea typeface="Courier New" pitchFamily="34" charset="-122"/>
                <a:cs typeface="Courier New" pitchFamily="34" charset="-120"/>
              </a:rPr>
              <a:t>What To Expect </a:t>
            </a:r>
            <a:endParaRPr lang="en-US" sz="1400" dirty="0"/>
          </a:p>
        </p:txBody>
      </p:sp>
      <p:sp>
        <p:nvSpPr>
          <p:cNvPr id="9" name="Shape 5"/>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10" name="Text 6"/>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sp>
        <p:nvSpPr>
          <p:cNvPr id="11" name="Shape 0">
            <a:extLst>
              <a:ext uri="{FF2B5EF4-FFF2-40B4-BE49-F238E27FC236}">
                <a16:creationId xmlns:a16="http://schemas.microsoft.com/office/drawing/2014/main" id="{AF9270CA-DD62-2BF9-428F-3DF0D3C00D22}"/>
              </a:ext>
            </a:extLst>
          </p:cNvPr>
          <p:cNvSpPr/>
          <p:nvPr/>
        </p:nvSpPr>
        <p:spPr>
          <a:xfrm>
            <a:off x="1002454" y="982980"/>
            <a:ext cx="6949440" cy="3657600"/>
          </a:xfrm>
          <a:prstGeom prst="rect">
            <a:avLst/>
          </a:prstGeom>
          <a:solidFill>
            <a:srgbClr val="000000">
              <a:alpha val="40000"/>
            </a:srgbClr>
          </a:solidFill>
          <a:ln w="19050">
            <a:solidFill>
              <a:srgbClr val="C8A84E"/>
            </a:solidFill>
            <a:prstDash val="solid"/>
          </a:ln>
        </p:spPr>
        <p:txBody>
          <a:bodyPr/>
          <a:lstStyle/>
          <a:p>
            <a:endParaRPr lang="en-US" dirty="0"/>
          </a:p>
        </p:txBody>
      </p:sp>
      <p:sp>
        <p:nvSpPr>
          <p:cNvPr id="12" name="TextBox 11">
            <a:extLst>
              <a:ext uri="{FF2B5EF4-FFF2-40B4-BE49-F238E27FC236}">
                <a16:creationId xmlns:a16="http://schemas.microsoft.com/office/drawing/2014/main" id="{C4CC1C5D-E95D-D9D9-472A-463DAE4972F1}"/>
              </a:ext>
            </a:extLst>
          </p:cNvPr>
          <p:cNvSpPr txBox="1"/>
          <p:nvPr/>
        </p:nvSpPr>
        <p:spPr>
          <a:xfrm>
            <a:off x="4998720" y="1208008"/>
            <a:ext cx="2953174" cy="1754326"/>
          </a:xfrm>
          <a:prstGeom prst="rect">
            <a:avLst/>
          </a:prstGeom>
          <a:noFill/>
        </p:spPr>
        <p:txBody>
          <a:bodyPr wrap="square" rtlCol="0">
            <a:spAutoFit/>
          </a:bodyPr>
          <a:lstStyle/>
          <a:p>
            <a:r>
              <a:rPr lang="en-US" dirty="0">
                <a:solidFill>
                  <a:schemeClr val="accent4">
                    <a:lumMod val="75000"/>
                  </a:schemeClr>
                </a:solidFill>
              </a:rPr>
              <a:t>On your first day we will go a bit slower walk you around our campus and visit all the required buildings. Then take a quick drive around the city to take in all you will see.</a:t>
            </a:r>
          </a:p>
        </p:txBody>
      </p:sp>
      <p:pic>
        <p:nvPicPr>
          <p:cNvPr id="14" name="Picture 13">
            <a:extLst>
              <a:ext uri="{FF2B5EF4-FFF2-40B4-BE49-F238E27FC236}">
                <a16:creationId xmlns:a16="http://schemas.microsoft.com/office/drawing/2014/main" id="{1CC4FE3C-DEA4-3705-B538-8338F201CEA1}"/>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1087121" y="1060704"/>
            <a:ext cx="3826933" cy="33685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sp>
        <p:nvSpPr>
          <p:cNvPr id="3" name="Shape 0"/>
          <p:cNvSpPr/>
          <p:nvPr/>
        </p:nvSpPr>
        <p:spPr>
          <a:xfrm>
            <a:off x="365760" y="274320"/>
            <a:ext cx="137160" cy="137160"/>
          </a:xfrm>
          <a:prstGeom prst="ellipse">
            <a:avLst/>
          </a:prstGeom>
          <a:solidFill>
            <a:srgbClr val="CC2222"/>
          </a:solidFill>
          <a:ln/>
        </p:spPr>
        <p:txBody>
          <a:bodyPr/>
          <a:lstStyle/>
          <a:p>
            <a:endParaRPr lang="en-US"/>
          </a:p>
        </p:txBody>
      </p:sp>
      <p:sp>
        <p:nvSpPr>
          <p:cNvPr id="4"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5"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00:02:18</a:t>
            </a:r>
            <a:endParaRPr lang="en-US" sz="1000" dirty="0"/>
          </a:p>
        </p:txBody>
      </p:sp>
      <p:sp>
        <p:nvSpPr>
          <p:cNvPr id="6" name="Shape 3"/>
          <p:cNvSpPr/>
          <p:nvPr/>
        </p:nvSpPr>
        <p:spPr>
          <a:xfrm>
            <a:off x="0" y="548640"/>
            <a:ext cx="9144000" cy="457200"/>
          </a:xfrm>
          <a:prstGeom prst="rect">
            <a:avLst/>
          </a:prstGeom>
          <a:solidFill>
            <a:srgbClr val="1A3A6B">
              <a:alpha val="60000"/>
            </a:srgbClr>
          </a:solidFill>
          <a:ln/>
        </p:spPr>
        <p:txBody>
          <a:bodyPr/>
          <a:lstStyle/>
          <a:p>
            <a:endParaRPr lang="en-US"/>
          </a:p>
        </p:txBody>
      </p:sp>
      <p:sp>
        <p:nvSpPr>
          <p:cNvPr id="7" name="Text 4"/>
          <p:cNvSpPr/>
          <p:nvPr/>
        </p:nvSpPr>
        <p:spPr>
          <a:xfrm>
            <a:off x="457200" y="566928"/>
            <a:ext cx="8229600" cy="411480"/>
          </a:xfrm>
          <a:prstGeom prst="rect">
            <a:avLst/>
          </a:prstGeom>
          <a:noFill/>
          <a:ln/>
        </p:spPr>
        <p:txBody>
          <a:bodyPr wrap="square" lIns="0" tIns="0" rIns="0" bIns="0" rtlCol="0" anchor="ctr"/>
          <a:lstStyle/>
          <a:p>
            <a:pPr marL="0" indent="0">
              <a:buNone/>
            </a:pPr>
            <a:r>
              <a:rPr lang="en-US" sz="1400" b="1" dirty="0">
                <a:solidFill>
                  <a:srgbClr val="C8A84E"/>
                </a:solidFill>
                <a:latin typeface="Courier New" pitchFamily="34" charset="0"/>
                <a:ea typeface="Courier New" pitchFamily="34" charset="-122"/>
                <a:cs typeface="Courier New" pitchFamily="34" charset="-120"/>
              </a:rPr>
              <a:t>How We Work Around Here</a:t>
            </a:r>
            <a:endParaRPr lang="en-US" sz="1400" dirty="0"/>
          </a:p>
        </p:txBody>
      </p:sp>
      <p:sp>
        <p:nvSpPr>
          <p:cNvPr id="8" name="Shape 5"/>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9" name="Text 6"/>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pic>
        <p:nvPicPr>
          <p:cNvPr id="10" name="Picture 9">
            <a:extLst>
              <a:ext uri="{FF2B5EF4-FFF2-40B4-BE49-F238E27FC236}">
                <a16:creationId xmlns:a16="http://schemas.microsoft.com/office/drawing/2014/main" id="{0C34D2B2-4A24-1505-ACCD-F11CCAE66B03}"/>
              </a:ext>
            </a:extLst>
          </p:cNvPr>
          <p:cNvPicPr>
            <a:picLocks noChangeAspect="1"/>
          </p:cNvPicPr>
          <p:nvPr/>
        </p:nvPicPr>
        <p:blipFill>
          <a:blip r:embed="rId5"/>
          <a:stretch>
            <a:fillRect/>
          </a:stretch>
        </p:blipFill>
        <p:spPr>
          <a:xfrm>
            <a:off x="1078388" y="996537"/>
            <a:ext cx="6968332" cy="3676207"/>
          </a:xfrm>
          <a:prstGeom prst="rect">
            <a:avLst/>
          </a:prstGeom>
        </p:spPr>
      </p:pic>
      <p:sp>
        <p:nvSpPr>
          <p:cNvPr id="12" name="TextBox 11">
            <a:extLst>
              <a:ext uri="{FF2B5EF4-FFF2-40B4-BE49-F238E27FC236}">
                <a16:creationId xmlns:a16="http://schemas.microsoft.com/office/drawing/2014/main" id="{334587AA-24E2-E40E-94F2-3727533F815B}"/>
              </a:ext>
            </a:extLst>
          </p:cNvPr>
          <p:cNvSpPr txBox="1"/>
          <p:nvPr/>
        </p:nvSpPr>
        <p:spPr>
          <a:xfrm>
            <a:off x="5811520" y="1503680"/>
            <a:ext cx="1957493" cy="2862322"/>
          </a:xfrm>
          <a:prstGeom prst="rect">
            <a:avLst/>
          </a:prstGeom>
          <a:noFill/>
        </p:spPr>
        <p:txBody>
          <a:bodyPr wrap="square" rtlCol="0">
            <a:spAutoFit/>
          </a:bodyPr>
          <a:lstStyle/>
          <a:p>
            <a:r>
              <a:rPr lang="en-US" dirty="0">
                <a:solidFill>
                  <a:schemeClr val="accent4">
                    <a:lumMod val="75000"/>
                  </a:schemeClr>
                </a:solidFill>
              </a:rPr>
              <a:t>Your day to day around here won’t be anything shocking just talking to a few citizens here and there . One or two traffic stops, you have nothing to worry about.</a:t>
            </a:r>
            <a:endParaRPr lang="en-US" dirty="0"/>
          </a:p>
        </p:txBody>
      </p:sp>
      <p:pic>
        <p:nvPicPr>
          <p:cNvPr id="14" name="Picture 13">
            <a:extLst>
              <a:ext uri="{FF2B5EF4-FFF2-40B4-BE49-F238E27FC236}">
                <a16:creationId xmlns:a16="http://schemas.microsoft.com/office/drawing/2014/main" id="{A53D51CC-0245-800B-4E98-EB312FD94FA8}"/>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1097280" y="1171379"/>
            <a:ext cx="4410691" cy="28007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5"/>
          <a:stretch>
            <a:fillRect/>
          </a:stretch>
        </p:blipFill>
        <p:spPr>
          <a:xfrm>
            <a:off x="0" y="1097280"/>
            <a:ext cx="9144000" cy="274320"/>
          </a:xfrm>
          <a:prstGeom prst="rect">
            <a:avLst/>
          </a:prstGeom>
        </p:spPr>
      </p:pic>
      <p:sp>
        <p:nvSpPr>
          <p:cNvPr id="4" name="Shape 0"/>
          <p:cNvSpPr/>
          <p:nvPr/>
        </p:nvSpPr>
        <p:spPr>
          <a:xfrm>
            <a:off x="365760" y="274320"/>
            <a:ext cx="137160" cy="137160"/>
          </a:xfrm>
          <a:prstGeom prst="ellipse">
            <a:avLst/>
          </a:prstGeom>
          <a:solidFill>
            <a:srgbClr val="CC2222"/>
          </a:solidFill>
          <a:ln/>
        </p:spPr>
        <p:txBody>
          <a:bodyPr/>
          <a:lstStyle/>
          <a:p>
            <a:endParaRPr lang="en-US"/>
          </a:p>
        </p:txBody>
      </p:sp>
      <p:sp>
        <p:nvSpPr>
          <p:cNvPr id="5"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6"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00:03:05</a:t>
            </a:r>
            <a:endParaRPr lang="en-US" sz="1000" dirty="0"/>
          </a:p>
        </p:txBody>
      </p:sp>
      <p:sp>
        <p:nvSpPr>
          <p:cNvPr id="7" name="Shape 3"/>
          <p:cNvSpPr/>
          <p:nvPr/>
        </p:nvSpPr>
        <p:spPr>
          <a:xfrm>
            <a:off x="0" y="548640"/>
            <a:ext cx="9144000" cy="457200"/>
          </a:xfrm>
          <a:prstGeom prst="rect">
            <a:avLst/>
          </a:prstGeom>
          <a:solidFill>
            <a:srgbClr val="1A3A6B">
              <a:alpha val="60000"/>
            </a:srgbClr>
          </a:solidFill>
          <a:ln/>
        </p:spPr>
        <p:txBody>
          <a:bodyPr/>
          <a:lstStyle/>
          <a:p>
            <a:endParaRPr lang="en-US"/>
          </a:p>
        </p:txBody>
      </p:sp>
      <p:sp>
        <p:nvSpPr>
          <p:cNvPr id="8" name="Text 4"/>
          <p:cNvSpPr/>
          <p:nvPr/>
        </p:nvSpPr>
        <p:spPr>
          <a:xfrm>
            <a:off x="457200" y="566928"/>
            <a:ext cx="8229600" cy="411480"/>
          </a:xfrm>
          <a:prstGeom prst="rect">
            <a:avLst/>
          </a:prstGeom>
          <a:noFill/>
          <a:ln/>
        </p:spPr>
        <p:txBody>
          <a:bodyPr wrap="square" lIns="0" tIns="0" rIns="0" bIns="0" rtlCol="0" anchor="ctr"/>
          <a:lstStyle/>
          <a:p>
            <a:pPr marL="0" indent="0">
              <a:buNone/>
            </a:pPr>
            <a:r>
              <a:rPr lang="en-US" sz="1400" b="1" dirty="0">
                <a:solidFill>
                  <a:srgbClr val="C8A84E"/>
                </a:solidFill>
                <a:latin typeface="Courier New" pitchFamily="34" charset="0"/>
                <a:ea typeface="Courier New" pitchFamily="34" charset="-122"/>
                <a:cs typeface="Courier New" pitchFamily="34" charset="-120"/>
              </a:rPr>
              <a:t>What to do if you see an Anomaly </a:t>
            </a:r>
            <a:endParaRPr lang="en-US" sz="1400" dirty="0"/>
          </a:p>
        </p:txBody>
      </p:sp>
      <p:sp>
        <p:nvSpPr>
          <p:cNvPr id="9" name="Shape 5"/>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10" name="Text 6"/>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sp>
        <p:nvSpPr>
          <p:cNvPr id="11" name="Shape 0">
            <a:extLst>
              <a:ext uri="{FF2B5EF4-FFF2-40B4-BE49-F238E27FC236}">
                <a16:creationId xmlns:a16="http://schemas.microsoft.com/office/drawing/2014/main" id="{FA8898AB-BE36-5973-5051-19304985757D}"/>
              </a:ext>
            </a:extLst>
          </p:cNvPr>
          <p:cNvSpPr/>
          <p:nvPr/>
        </p:nvSpPr>
        <p:spPr>
          <a:xfrm>
            <a:off x="1131147" y="1005840"/>
            <a:ext cx="6949440" cy="3657600"/>
          </a:xfrm>
          <a:prstGeom prst="rect">
            <a:avLst/>
          </a:prstGeom>
          <a:solidFill>
            <a:srgbClr val="000000">
              <a:alpha val="40000"/>
            </a:srgbClr>
          </a:solidFill>
          <a:ln w="19050">
            <a:solidFill>
              <a:srgbClr val="C8A84E"/>
            </a:solidFill>
            <a:prstDash val="solid"/>
          </a:ln>
        </p:spPr>
        <p:txBody>
          <a:bodyPr/>
          <a:lstStyle/>
          <a:p>
            <a:endParaRPr lang="en-US"/>
          </a:p>
        </p:txBody>
      </p:sp>
      <p:sp>
        <p:nvSpPr>
          <p:cNvPr id="12" name="TextBox 11">
            <a:extLst>
              <a:ext uri="{FF2B5EF4-FFF2-40B4-BE49-F238E27FC236}">
                <a16:creationId xmlns:a16="http://schemas.microsoft.com/office/drawing/2014/main" id="{4D058094-C79D-586D-C335-9672C2D157BE}"/>
              </a:ext>
            </a:extLst>
          </p:cNvPr>
          <p:cNvSpPr txBox="1"/>
          <p:nvPr/>
        </p:nvSpPr>
        <p:spPr>
          <a:xfrm>
            <a:off x="5872480" y="1252585"/>
            <a:ext cx="2065866" cy="3323987"/>
          </a:xfrm>
          <a:prstGeom prst="rect">
            <a:avLst/>
          </a:prstGeom>
          <a:noFill/>
        </p:spPr>
        <p:txBody>
          <a:bodyPr wrap="square" rtlCol="0">
            <a:spAutoFit/>
          </a:bodyPr>
          <a:lstStyle/>
          <a:p>
            <a:r>
              <a:rPr lang="en-US" sz="1400" dirty="0">
                <a:solidFill>
                  <a:schemeClr val="accent4">
                    <a:lumMod val="75000"/>
                  </a:schemeClr>
                </a:solidFill>
              </a:rPr>
              <a:t>This is a rare occurrence around here but when it does happen, these are the steps </a:t>
            </a:r>
          </a:p>
          <a:p>
            <a:r>
              <a:rPr lang="en-US" sz="1400" dirty="0">
                <a:solidFill>
                  <a:schemeClr val="accent4">
                    <a:lumMod val="75000"/>
                  </a:schemeClr>
                </a:solidFill>
              </a:rPr>
              <a:t>1. see if anybody is around we don’t want any bystanders to get hurt </a:t>
            </a:r>
          </a:p>
          <a:p>
            <a:r>
              <a:rPr lang="en-US" sz="1400" dirty="0">
                <a:solidFill>
                  <a:schemeClr val="accent4">
                    <a:lumMod val="75000"/>
                  </a:schemeClr>
                </a:solidFill>
              </a:rPr>
              <a:t>2.Once all bystanders are out of the zone slowly walk towards the anomaly.</a:t>
            </a:r>
          </a:p>
          <a:p>
            <a:r>
              <a:rPr lang="en-US" sz="1400" dirty="0">
                <a:solidFill>
                  <a:schemeClr val="accent4">
                    <a:lumMod val="75000"/>
                  </a:schemeClr>
                </a:solidFill>
              </a:rPr>
              <a:t>3. Capture the anomaly in the box labeled waste box </a:t>
            </a:r>
          </a:p>
        </p:txBody>
      </p:sp>
      <p:pic>
        <p:nvPicPr>
          <p:cNvPr id="14" name="Picture 13">
            <a:extLst>
              <a:ext uri="{FF2B5EF4-FFF2-40B4-BE49-F238E27FC236}">
                <a16:creationId xmlns:a16="http://schemas.microsoft.com/office/drawing/2014/main" id="{1137B252-FE6D-508D-BD39-9E86E54C48C9}"/>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1440412" y="1200994"/>
            <a:ext cx="2777477" cy="29946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sp>
        <p:nvSpPr>
          <p:cNvPr id="3" name="Shape 0"/>
          <p:cNvSpPr/>
          <p:nvPr/>
        </p:nvSpPr>
        <p:spPr>
          <a:xfrm>
            <a:off x="365760" y="274320"/>
            <a:ext cx="137160" cy="137160"/>
          </a:xfrm>
          <a:prstGeom prst="ellipse">
            <a:avLst/>
          </a:prstGeom>
          <a:solidFill>
            <a:srgbClr val="CC2222"/>
          </a:solidFill>
          <a:ln/>
        </p:spPr>
        <p:txBody>
          <a:bodyPr/>
          <a:lstStyle/>
          <a:p>
            <a:endParaRPr lang="en-US"/>
          </a:p>
        </p:txBody>
      </p:sp>
      <p:sp>
        <p:nvSpPr>
          <p:cNvPr id="4"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5"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00:03:48</a:t>
            </a:r>
            <a:endParaRPr lang="en-US" sz="1000" dirty="0"/>
          </a:p>
        </p:txBody>
      </p:sp>
      <p:sp>
        <p:nvSpPr>
          <p:cNvPr id="6" name="Shape 3"/>
          <p:cNvSpPr/>
          <p:nvPr/>
        </p:nvSpPr>
        <p:spPr>
          <a:xfrm>
            <a:off x="0" y="548640"/>
            <a:ext cx="9144000" cy="457200"/>
          </a:xfrm>
          <a:prstGeom prst="rect">
            <a:avLst/>
          </a:prstGeom>
          <a:solidFill>
            <a:srgbClr val="1A3A6B">
              <a:alpha val="60000"/>
            </a:srgbClr>
          </a:solidFill>
          <a:ln/>
        </p:spPr>
        <p:txBody>
          <a:bodyPr/>
          <a:lstStyle/>
          <a:p>
            <a:endParaRPr lang="en-US"/>
          </a:p>
        </p:txBody>
      </p:sp>
      <p:sp>
        <p:nvSpPr>
          <p:cNvPr id="7" name="Text 4"/>
          <p:cNvSpPr/>
          <p:nvPr/>
        </p:nvSpPr>
        <p:spPr>
          <a:xfrm>
            <a:off x="457200" y="566928"/>
            <a:ext cx="8229600" cy="411480"/>
          </a:xfrm>
          <a:prstGeom prst="rect">
            <a:avLst/>
          </a:prstGeom>
          <a:noFill/>
          <a:ln/>
        </p:spPr>
        <p:txBody>
          <a:bodyPr wrap="square" lIns="0" tIns="0" rIns="0" bIns="0" rtlCol="0" anchor="ctr"/>
          <a:lstStyle/>
          <a:p>
            <a:pPr marL="0" indent="0">
              <a:buNone/>
            </a:pPr>
            <a:r>
              <a:rPr lang="en-US" sz="1400" b="1" dirty="0">
                <a:solidFill>
                  <a:srgbClr val="C8A84E"/>
                </a:solidFill>
                <a:latin typeface="Courier New" pitchFamily="34" charset="0"/>
                <a:cs typeface="Courier New" pitchFamily="34" charset="-120"/>
              </a:rPr>
              <a:t>How to report anything you find.</a:t>
            </a:r>
            <a:endParaRPr lang="en-US" sz="1400" dirty="0"/>
          </a:p>
        </p:txBody>
      </p:sp>
      <p:sp>
        <p:nvSpPr>
          <p:cNvPr id="8" name="Shape 5"/>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9" name="Text 6"/>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sp>
        <p:nvSpPr>
          <p:cNvPr id="10" name="Shape 0">
            <a:extLst>
              <a:ext uri="{FF2B5EF4-FFF2-40B4-BE49-F238E27FC236}">
                <a16:creationId xmlns:a16="http://schemas.microsoft.com/office/drawing/2014/main" id="{37066165-20A6-4C51-BA73-FA761E27E605}"/>
              </a:ext>
            </a:extLst>
          </p:cNvPr>
          <p:cNvSpPr/>
          <p:nvPr/>
        </p:nvSpPr>
        <p:spPr>
          <a:xfrm>
            <a:off x="1097280" y="978408"/>
            <a:ext cx="6949440" cy="3657600"/>
          </a:xfrm>
          <a:prstGeom prst="rect">
            <a:avLst/>
          </a:prstGeom>
          <a:solidFill>
            <a:srgbClr val="000000">
              <a:alpha val="40000"/>
            </a:srgbClr>
          </a:solidFill>
          <a:ln w="19050">
            <a:solidFill>
              <a:srgbClr val="C8A84E"/>
            </a:solidFill>
            <a:prstDash val="solid"/>
          </a:ln>
        </p:spPr>
        <p:txBody>
          <a:bodyPr/>
          <a:lstStyle/>
          <a:p>
            <a:endParaRPr lang="en-US" dirty="0"/>
          </a:p>
        </p:txBody>
      </p:sp>
      <p:sp>
        <p:nvSpPr>
          <p:cNvPr id="11" name="TextBox 10">
            <a:extLst>
              <a:ext uri="{FF2B5EF4-FFF2-40B4-BE49-F238E27FC236}">
                <a16:creationId xmlns:a16="http://schemas.microsoft.com/office/drawing/2014/main" id="{ADC5211D-3CA6-1F8F-5384-52F92DB95197}"/>
              </a:ext>
            </a:extLst>
          </p:cNvPr>
          <p:cNvSpPr txBox="1"/>
          <p:nvPr/>
        </p:nvSpPr>
        <p:spPr>
          <a:xfrm>
            <a:off x="5886027" y="1584960"/>
            <a:ext cx="1855893" cy="2585323"/>
          </a:xfrm>
          <a:prstGeom prst="rect">
            <a:avLst/>
          </a:prstGeom>
          <a:noFill/>
        </p:spPr>
        <p:txBody>
          <a:bodyPr wrap="square" rtlCol="0">
            <a:spAutoFit/>
          </a:bodyPr>
          <a:lstStyle/>
          <a:p>
            <a:r>
              <a:rPr lang="en-US" dirty="0">
                <a:solidFill>
                  <a:schemeClr val="accent4">
                    <a:lumMod val="75000"/>
                  </a:schemeClr>
                </a:solidFill>
              </a:rPr>
              <a:t>To report anything you find go to the database and log the name of the  and the code given to you at the start of your day.</a:t>
            </a:r>
            <a:endParaRPr lang="en-US" dirty="0"/>
          </a:p>
        </p:txBody>
      </p:sp>
      <p:pic>
        <p:nvPicPr>
          <p:cNvPr id="13" name="Picture 12">
            <a:extLst>
              <a:ext uri="{FF2B5EF4-FFF2-40B4-BE49-F238E27FC236}">
                <a16:creationId xmlns:a16="http://schemas.microsoft.com/office/drawing/2014/main" id="{796B12DE-5AB9-1EC0-F8DB-D9FFCA877A3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232747" y="1323594"/>
            <a:ext cx="4262247" cy="28414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68580"/>
            <a:ext cx="9144000" cy="5074920"/>
          </a:xfrm>
          <a:prstGeom prst="rect">
            <a:avLst/>
          </a:prstGeom>
        </p:spPr>
      </p:pic>
      <p:pic>
        <p:nvPicPr>
          <p:cNvPr id="3" name="Image 1" descr="preencoded.png"/>
          <p:cNvPicPr>
            <a:picLocks noChangeAspect="1"/>
          </p:cNvPicPr>
          <p:nvPr/>
        </p:nvPicPr>
        <p:blipFill>
          <a:blip r:embed="rId5"/>
          <a:stretch>
            <a:fillRect/>
          </a:stretch>
        </p:blipFill>
        <p:spPr>
          <a:xfrm>
            <a:off x="0" y="3840480"/>
            <a:ext cx="9144000" cy="274320"/>
          </a:xfrm>
          <a:prstGeom prst="rect">
            <a:avLst/>
          </a:prstGeom>
        </p:spPr>
      </p:pic>
      <p:sp>
        <p:nvSpPr>
          <p:cNvPr id="4" name="Shape 0"/>
          <p:cNvSpPr/>
          <p:nvPr/>
        </p:nvSpPr>
        <p:spPr>
          <a:xfrm>
            <a:off x="365760" y="274320"/>
            <a:ext cx="137160" cy="137160"/>
          </a:xfrm>
          <a:prstGeom prst="ellipse">
            <a:avLst/>
          </a:prstGeom>
          <a:solidFill>
            <a:srgbClr val="CC2222"/>
          </a:solidFill>
          <a:ln/>
        </p:spPr>
        <p:txBody>
          <a:bodyPr/>
          <a:lstStyle/>
          <a:p>
            <a:endParaRPr lang="en-US"/>
          </a:p>
        </p:txBody>
      </p:sp>
      <p:sp>
        <p:nvSpPr>
          <p:cNvPr id="5"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6"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00:04:27</a:t>
            </a:r>
            <a:endParaRPr lang="en-US" sz="1000" dirty="0"/>
          </a:p>
        </p:txBody>
      </p:sp>
      <p:sp>
        <p:nvSpPr>
          <p:cNvPr id="7" name="Shape 3"/>
          <p:cNvSpPr/>
          <p:nvPr/>
        </p:nvSpPr>
        <p:spPr>
          <a:xfrm>
            <a:off x="0" y="548640"/>
            <a:ext cx="9144000" cy="457200"/>
          </a:xfrm>
          <a:prstGeom prst="rect">
            <a:avLst/>
          </a:prstGeom>
          <a:solidFill>
            <a:srgbClr val="1A3A6B">
              <a:alpha val="60000"/>
            </a:srgbClr>
          </a:solidFill>
          <a:ln/>
        </p:spPr>
        <p:txBody>
          <a:bodyPr/>
          <a:lstStyle/>
          <a:p>
            <a:endParaRPr lang="en-US"/>
          </a:p>
        </p:txBody>
      </p:sp>
      <p:sp>
        <p:nvSpPr>
          <p:cNvPr id="8" name="Text 4"/>
          <p:cNvSpPr/>
          <p:nvPr/>
        </p:nvSpPr>
        <p:spPr>
          <a:xfrm>
            <a:off x="457200" y="566928"/>
            <a:ext cx="8229600" cy="411480"/>
          </a:xfrm>
          <a:prstGeom prst="rect">
            <a:avLst/>
          </a:prstGeom>
          <a:noFill/>
          <a:ln/>
        </p:spPr>
        <p:txBody>
          <a:bodyPr wrap="square" lIns="0" tIns="0" rIns="0" bIns="0" rtlCol="0" anchor="ctr"/>
          <a:lstStyle/>
          <a:p>
            <a:pPr marL="0" indent="0">
              <a:buNone/>
            </a:pPr>
            <a:r>
              <a:rPr lang="en-US" sz="1400" b="1" dirty="0">
                <a:solidFill>
                  <a:srgbClr val="C8A84E"/>
                </a:solidFill>
                <a:latin typeface="Courier New" pitchFamily="34" charset="0"/>
                <a:ea typeface="Courier New" pitchFamily="34" charset="-122"/>
                <a:cs typeface="Courier New" pitchFamily="34" charset="-120"/>
              </a:rPr>
              <a:t>Clocking in and clocking out.</a:t>
            </a:r>
            <a:endParaRPr lang="en-US" sz="1400" dirty="0"/>
          </a:p>
        </p:txBody>
      </p:sp>
      <p:sp>
        <p:nvSpPr>
          <p:cNvPr id="9" name="Shape 5"/>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10" name="Text 6"/>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sp>
        <p:nvSpPr>
          <p:cNvPr id="11" name="Shape 0">
            <a:extLst>
              <a:ext uri="{FF2B5EF4-FFF2-40B4-BE49-F238E27FC236}">
                <a16:creationId xmlns:a16="http://schemas.microsoft.com/office/drawing/2014/main" id="{391EAD47-7028-D500-4523-0C0364FB9694}"/>
              </a:ext>
            </a:extLst>
          </p:cNvPr>
          <p:cNvSpPr/>
          <p:nvPr/>
        </p:nvSpPr>
        <p:spPr>
          <a:xfrm>
            <a:off x="1097280" y="978408"/>
            <a:ext cx="6949440" cy="3657600"/>
          </a:xfrm>
          <a:prstGeom prst="rect">
            <a:avLst/>
          </a:prstGeom>
          <a:solidFill>
            <a:srgbClr val="000000">
              <a:alpha val="40000"/>
            </a:srgbClr>
          </a:solidFill>
          <a:ln w="19050">
            <a:solidFill>
              <a:srgbClr val="C8A84E"/>
            </a:solidFill>
            <a:prstDash val="solid"/>
          </a:ln>
        </p:spPr>
        <p:txBody>
          <a:bodyPr/>
          <a:lstStyle/>
          <a:p>
            <a:endParaRPr lang="en-US" dirty="0"/>
          </a:p>
        </p:txBody>
      </p:sp>
      <p:sp>
        <p:nvSpPr>
          <p:cNvPr id="12" name="TextBox 11">
            <a:extLst>
              <a:ext uri="{FF2B5EF4-FFF2-40B4-BE49-F238E27FC236}">
                <a16:creationId xmlns:a16="http://schemas.microsoft.com/office/drawing/2014/main" id="{BC8D2776-E53B-DC6F-F96A-8B6BF6B09EFC}"/>
              </a:ext>
            </a:extLst>
          </p:cNvPr>
          <p:cNvSpPr txBox="1"/>
          <p:nvPr/>
        </p:nvSpPr>
        <p:spPr>
          <a:xfrm>
            <a:off x="5886026" y="1532468"/>
            <a:ext cx="2160693" cy="2308324"/>
          </a:xfrm>
          <a:prstGeom prst="rect">
            <a:avLst/>
          </a:prstGeom>
          <a:noFill/>
        </p:spPr>
        <p:txBody>
          <a:bodyPr wrap="square" rtlCol="0">
            <a:spAutoFit/>
          </a:bodyPr>
          <a:lstStyle/>
          <a:p>
            <a:r>
              <a:rPr lang="en-US" dirty="0">
                <a:solidFill>
                  <a:schemeClr val="accent4">
                    <a:lumMod val="75000"/>
                  </a:schemeClr>
                </a:solidFill>
              </a:rPr>
              <a:t>To clock in and out you will use the tablet on wall. You are expected to enter and leave at your said time. Any late or early officers will be reprimanded.  </a:t>
            </a:r>
          </a:p>
        </p:txBody>
      </p:sp>
      <p:pic>
        <p:nvPicPr>
          <p:cNvPr id="16" name="Picture 15">
            <a:extLst>
              <a:ext uri="{FF2B5EF4-FFF2-40B4-BE49-F238E27FC236}">
                <a16:creationId xmlns:a16="http://schemas.microsoft.com/office/drawing/2014/main" id="{56A7DC6A-B5FA-B9CB-5355-357897178760}"/>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1480480" y="1428627"/>
            <a:ext cx="3765466" cy="27364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sp>
        <p:nvSpPr>
          <p:cNvPr id="3" name="Shape 0"/>
          <p:cNvSpPr/>
          <p:nvPr/>
        </p:nvSpPr>
        <p:spPr>
          <a:xfrm>
            <a:off x="365760" y="274320"/>
            <a:ext cx="137160" cy="137160"/>
          </a:xfrm>
          <a:prstGeom prst="ellipse">
            <a:avLst/>
          </a:prstGeom>
          <a:solidFill>
            <a:srgbClr val="CC2222"/>
          </a:solidFill>
          <a:ln/>
        </p:spPr>
        <p:txBody>
          <a:bodyPr/>
          <a:lstStyle/>
          <a:p>
            <a:endParaRPr lang="en-US"/>
          </a:p>
        </p:txBody>
      </p:sp>
      <p:sp>
        <p:nvSpPr>
          <p:cNvPr id="4"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5"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00:05:44</a:t>
            </a:r>
            <a:endParaRPr lang="en-US" sz="1000" dirty="0"/>
          </a:p>
        </p:txBody>
      </p:sp>
      <p:sp>
        <p:nvSpPr>
          <p:cNvPr id="6" name="Shape 3"/>
          <p:cNvSpPr/>
          <p:nvPr/>
        </p:nvSpPr>
        <p:spPr>
          <a:xfrm>
            <a:off x="0" y="548640"/>
            <a:ext cx="9144000" cy="457200"/>
          </a:xfrm>
          <a:prstGeom prst="rect">
            <a:avLst/>
          </a:prstGeom>
          <a:solidFill>
            <a:srgbClr val="1A3A6B">
              <a:alpha val="60000"/>
            </a:srgbClr>
          </a:solidFill>
          <a:ln/>
        </p:spPr>
        <p:txBody>
          <a:bodyPr/>
          <a:lstStyle/>
          <a:p>
            <a:endParaRPr lang="en-US"/>
          </a:p>
        </p:txBody>
      </p:sp>
      <p:sp>
        <p:nvSpPr>
          <p:cNvPr id="7" name="Text 4"/>
          <p:cNvSpPr/>
          <p:nvPr/>
        </p:nvSpPr>
        <p:spPr>
          <a:xfrm>
            <a:off x="457200" y="566928"/>
            <a:ext cx="8229600" cy="411480"/>
          </a:xfrm>
          <a:prstGeom prst="rect">
            <a:avLst/>
          </a:prstGeom>
          <a:noFill/>
          <a:ln/>
        </p:spPr>
        <p:txBody>
          <a:bodyPr wrap="square" lIns="0" tIns="0" rIns="0" bIns="0" rtlCol="0" anchor="ctr"/>
          <a:lstStyle/>
          <a:p>
            <a:pPr marL="0" indent="0">
              <a:buNone/>
            </a:pPr>
            <a:r>
              <a:rPr lang="en-US" sz="1400" b="1" dirty="0">
                <a:solidFill>
                  <a:srgbClr val="C8A84E"/>
                </a:solidFill>
                <a:latin typeface="Courier New" pitchFamily="34" charset="0"/>
                <a:ea typeface="Courier New" pitchFamily="34" charset="-122"/>
                <a:cs typeface="Courier New" pitchFamily="34" charset="-120"/>
              </a:rPr>
              <a:t>We only except the best.</a:t>
            </a:r>
            <a:endParaRPr lang="en-US" sz="1400" dirty="0"/>
          </a:p>
        </p:txBody>
      </p:sp>
      <p:sp>
        <p:nvSpPr>
          <p:cNvPr id="8" name="Shape 5"/>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9" name="Text 6"/>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sp>
        <p:nvSpPr>
          <p:cNvPr id="10" name="Shape 0">
            <a:extLst>
              <a:ext uri="{FF2B5EF4-FFF2-40B4-BE49-F238E27FC236}">
                <a16:creationId xmlns:a16="http://schemas.microsoft.com/office/drawing/2014/main" id="{9947CDE0-153A-8318-934A-7C4FC6D731B2}"/>
              </a:ext>
            </a:extLst>
          </p:cNvPr>
          <p:cNvSpPr/>
          <p:nvPr/>
        </p:nvSpPr>
        <p:spPr>
          <a:xfrm>
            <a:off x="1097280" y="996696"/>
            <a:ext cx="6949440" cy="3657600"/>
          </a:xfrm>
          <a:prstGeom prst="rect">
            <a:avLst/>
          </a:prstGeom>
          <a:solidFill>
            <a:srgbClr val="000000">
              <a:alpha val="40000"/>
            </a:srgbClr>
          </a:solidFill>
          <a:ln w="19050">
            <a:solidFill>
              <a:srgbClr val="C8A84E"/>
            </a:solidFill>
            <a:prstDash val="solid"/>
          </a:ln>
        </p:spPr>
        <p:txBody>
          <a:bodyPr/>
          <a:lstStyle/>
          <a:p>
            <a:endParaRPr lang="en-US" dirty="0"/>
          </a:p>
        </p:txBody>
      </p:sp>
      <p:sp>
        <p:nvSpPr>
          <p:cNvPr id="12" name="TextBox 11">
            <a:extLst>
              <a:ext uri="{FF2B5EF4-FFF2-40B4-BE49-F238E27FC236}">
                <a16:creationId xmlns:a16="http://schemas.microsoft.com/office/drawing/2014/main" id="{C0B6FCE4-0D61-350D-2F2E-31BFFCFE5AB6}"/>
              </a:ext>
            </a:extLst>
          </p:cNvPr>
          <p:cNvSpPr txBox="1"/>
          <p:nvPr/>
        </p:nvSpPr>
        <p:spPr>
          <a:xfrm>
            <a:off x="6102773" y="1126480"/>
            <a:ext cx="1503680" cy="3416320"/>
          </a:xfrm>
          <a:prstGeom prst="rect">
            <a:avLst/>
          </a:prstGeom>
          <a:noFill/>
        </p:spPr>
        <p:txBody>
          <a:bodyPr wrap="square" rtlCol="0">
            <a:spAutoFit/>
          </a:bodyPr>
          <a:lstStyle/>
          <a:p>
            <a:r>
              <a:rPr lang="en-US" dirty="0">
                <a:solidFill>
                  <a:schemeClr val="accent4">
                    <a:lumMod val="75000"/>
                  </a:schemeClr>
                </a:solidFill>
              </a:rPr>
              <a:t>Only the best is wanted here. If you went the best, then you wouldn’t be here! If you aren't at you best, we will find other ways for you to serve</a:t>
            </a:r>
          </a:p>
        </p:txBody>
      </p:sp>
      <p:pic>
        <p:nvPicPr>
          <p:cNvPr id="14" name="Picture 13">
            <a:extLst>
              <a:ext uri="{FF2B5EF4-FFF2-40B4-BE49-F238E27FC236}">
                <a16:creationId xmlns:a16="http://schemas.microsoft.com/office/drawing/2014/main" id="{E0624FB5-A90B-6705-7340-6FB6196D7BA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552706" y="1060704"/>
            <a:ext cx="3452787" cy="33549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70000"/>
          </a:blip>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5"/>
          <a:stretch>
            <a:fillRect/>
          </a:stretch>
        </p:blipFill>
        <p:spPr>
          <a:xfrm>
            <a:off x="0" y="731520"/>
            <a:ext cx="9144000" cy="274320"/>
          </a:xfrm>
          <a:prstGeom prst="rect">
            <a:avLst/>
          </a:prstGeom>
        </p:spPr>
      </p:pic>
      <p:sp>
        <p:nvSpPr>
          <p:cNvPr id="4" name="Shape 0"/>
          <p:cNvSpPr/>
          <p:nvPr/>
        </p:nvSpPr>
        <p:spPr>
          <a:xfrm>
            <a:off x="365760" y="274320"/>
            <a:ext cx="137160" cy="137160"/>
          </a:xfrm>
          <a:prstGeom prst="ellipse">
            <a:avLst/>
          </a:prstGeom>
          <a:solidFill>
            <a:srgbClr val="CC2222"/>
          </a:solidFill>
          <a:ln/>
        </p:spPr>
        <p:txBody>
          <a:bodyPr/>
          <a:lstStyle/>
          <a:p>
            <a:endParaRPr lang="en-US"/>
          </a:p>
        </p:txBody>
      </p:sp>
      <p:sp>
        <p:nvSpPr>
          <p:cNvPr id="5" name="Text 1"/>
          <p:cNvSpPr/>
          <p:nvPr/>
        </p:nvSpPr>
        <p:spPr>
          <a:xfrm>
            <a:off x="548640" y="219456"/>
            <a:ext cx="548640" cy="274320"/>
          </a:xfrm>
          <a:prstGeom prst="rect">
            <a:avLst/>
          </a:prstGeom>
          <a:noFill/>
          <a:ln/>
        </p:spPr>
        <p:txBody>
          <a:bodyPr wrap="square" lIns="0" tIns="0" rIns="0" bIns="0" rtlCol="0" anchor="ctr"/>
          <a:lstStyle/>
          <a:p>
            <a:pPr marL="0" indent="0">
              <a:buNone/>
            </a:pPr>
            <a:r>
              <a:rPr lang="en-US" sz="1000" b="1" dirty="0">
                <a:solidFill>
                  <a:srgbClr val="CC2222"/>
                </a:solidFill>
                <a:latin typeface="Courier New" pitchFamily="34" charset="0"/>
                <a:ea typeface="Courier New" pitchFamily="34" charset="-122"/>
                <a:cs typeface="Courier New" pitchFamily="34" charset="-120"/>
              </a:rPr>
              <a:t>REC</a:t>
            </a:r>
            <a:endParaRPr lang="en-US" sz="1000" dirty="0"/>
          </a:p>
        </p:txBody>
      </p:sp>
      <p:sp>
        <p:nvSpPr>
          <p:cNvPr id="6" name="Text 2"/>
          <p:cNvSpPr/>
          <p:nvPr/>
        </p:nvSpPr>
        <p:spPr>
          <a:xfrm>
            <a:off x="7132320" y="219456"/>
            <a:ext cx="1828800" cy="274320"/>
          </a:xfrm>
          <a:prstGeom prst="rect">
            <a:avLst/>
          </a:prstGeom>
          <a:noFill/>
          <a:ln/>
        </p:spPr>
        <p:txBody>
          <a:bodyPr wrap="square" lIns="0" tIns="0" rIns="0" bIns="0" rtlCol="0" anchor="ctr"/>
          <a:lstStyle/>
          <a:p>
            <a:pPr marL="0" indent="0" algn="r">
              <a:buNone/>
            </a:pPr>
            <a:r>
              <a:rPr lang="en-US" sz="1000" dirty="0">
                <a:solidFill>
                  <a:srgbClr val="8A7335"/>
                </a:solidFill>
                <a:latin typeface="Courier New" pitchFamily="34" charset="0"/>
                <a:ea typeface="Courier New" pitchFamily="34" charset="-122"/>
                <a:cs typeface="Courier New" pitchFamily="34" charset="-120"/>
              </a:rPr>
              <a:t>00:06:12</a:t>
            </a:r>
            <a:endParaRPr lang="en-US" sz="1000" dirty="0"/>
          </a:p>
        </p:txBody>
      </p:sp>
      <p:sp>
        <p:nvSpPr>
          <p:cNvPr id="7" name="Shape 3"/>
          <p:cNvSpPr/>
          <p:nvPr/>
        </p:nvSpPr>
        <p:spPr>
          <a:xfrm>
            <a:off x="0" y="4663440"/>
            <a:ext cx="9144000" cy="480060"/>
          </a:xfrm>
          <a:prstGeom prst="rect">
            <a:avLst/>
          </a:prstGeom>
          <a:solidFill>
            <a:srgbClr val="000000">
              <a:alpha val="50000"/>
            </a:srgbClr>
          </a:solidFill>
          <a:ln/>
        </p:spPr>
        <p:txBody>
          <a:bodyPr/>
          <a:lstStyle/>
          <a:p>
            <a:endParaRPr lang="en-US"/>
          </a:p>
        </p:txBody>
      </p:sp>
      <p:sp>
        <p:nvSpPr>
          <p:cNvPr id="8" name="Text 4"/>
          <p:cNvSpPr/>
          <p:nvPr/>
        </p:nvSpPr>
        <p:spPr>
          <a:xfrm>
            <a:off x="457200" y="4709160"/>
            <a:ext cx="8229600" cy="365760"/>
          </a:xfrm>
          <a:prstGeom prst="rect">
            <a:avLst/>
          </a:prstGeom>
          <a:noFill/>
          <a:ln/>
        </p:spPr>
        <p:txBody>
          <a:bodyPr wrap="square" lIns="0" tIns="0" rIns="0" bIns="0" rtlCol="0" anchor="ctr"/>
          <a:lstStyle/>
          <a:p>
            <a:pPr marL="0" indent="0">
              <a:buNone/>
            </a:pPr>
            <a:r>
              <a:rPr lang="en-US" sz="800" kern="0" spc="200" dirty="0">
                <a:solidFill>
                  <a:srgbClr val="8A7335"/>
                </a:solidFill>
                <a:latin typeface="Courier New" pitchFamily="34" charset="0"/>
                <a:ea typeface="Courier New" pitchFamily="34" charset="-122"/>
                <a:cs typeface="Courier New" pitchFamily="34" charset="-120"/>
              </a:rPr>
              <a:t>PRECINCT ARCHIVE  //  RECOVERED MEDIA  //  CLASSIFICATION: STANDARD</a:t>
            </a:r>
            <a:endParaRPr lang="en-US" sz="800" dirty="0"/>
          </a:p>
        </p:txBody>
      </p:sp>
      <p:sp>
        <p:nvSpPr>
          <p:cNvPr id="9" name="Shape 0">
            <a:extLst>
              <a:ext uri="{FF2B5EF4-FFF2-40B4-BE49-F238E27FC236}">
                <a16:creationId xmlns:a16="http://schemas.microsoft.com/office/drawing/2014/main" id="{37EA574F-761E-B898-9381-0078F3F9A393}"/>
              </a:ext>
            </a:extLst>
          </p:cNvPr>
          <p:cNvSpPr/>
          <p:nvPr/>
        </p:nvSpPr>
        <p:spPr>
          <a:xfrm>
            <a:off x="1049867" y="868680"/>
            <a:ext cx="6949440" cy="3657600"/>
          </a:xfrm>
          <a:prstGeom prst="rect">
            <a:avLst/>
          </a:prstGeom>
          <a:solidFill>
            <a:srgbClr val="000000">
              <a:alpha val="40000"/>
            </a:srgbClr>
          </a:solidFill>
          <a:ln w="19050">
            <a:solidFill>
              <a:srgbClr val="C8A84E"/>
            </a:solidFill>
            <a:prstDash val="solid"/>
          </a:ln>
        </p:spPr>
        <p:txBody>
          <a:bodyPr/>
          <a:lstStyle/>
          <a:p>
            <a:r>
              <a:rPr lang="en-US" sz="4000" dirty="0">
                <a:solidFill>
                  <a:schemeClr val="accent4">
                    <a:lumMod val="75000"/>
                  </a:schemeClr>
                </a:solidFill>
              </a:rPr>
              <a:t>We hope you are ready to serve this great city. Make some new friends, have a good time. And remember the city of Black Water needs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462</Words>
  <Application>Microsoft Office PowerPoint</Application>
  <PresentationFormat>On-screen Show (16:9)</PresentationFormat>
  <Paragraphs>56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Entry 04 — Orientation: Welcome to the Precinct</dc:title>
  <dc:subject>PptxGenJS Presentation</dc:subject>
  <dc:creator>Precinct Archive</dc:creator>
  <cp:lastModifiedBy>Scherb, Sebastian</cp:lastModifiedBy>
  <cp:revision>3</cp:revision>
  <dcterms:created xsi:type="dcterms:W3CDTF">2026-03-11T19:15:30Z</dcterms:created>
  <dcterms:modified xsi:type="dcterms:W3CDTF">2026-03-11T20:51:07Z</dcterms:modified>
</cp:coreProperties>
</file>